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m9DlBzK6Vcm1Hv+D8s9HI7W/D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811F13A-6606-400A-BFC5-04F3C6273139}">
  <a:tblStyle styleId="{2811F13A-6606-400A-BFC5-04F3C62731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754" y="-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08335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055116" y="1892329"/>
            <a:ext cx="105453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3200" dirty="0"/>
              <a:t>Исследование алгоритмов решения дискретных задач оптимизации</a:t>
            </a:r>
            <a:endParaRPr sz="3200" b="0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973510" y="5029267"/>
            <a:ext cx="600348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Докладчик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ru-RU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Петраков М. В., студент гр. ИСТ-22-</a:t>
            </a:r>
            <a:r>
              <a:rPr lang="ru-RU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Преподаватель: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Доцент каф. ВММБ, </a:t>
            </a:r>
            <a:r>
              <a:rPr lang="ru-RU" sz="20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Бояршинова</a:t>
            </a:r>
            <a:r>
              <a:rPr lang="ru-RU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Ирина Николаевна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9919625" y="630859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E1E1E3"/>
                </a:solidFill>
              </a:rPr>
              <a:t>1</a:t>
            </a:fld>
            <a:endParaRPr sz="2000">
              <a:solidFill>
                <a:srgbClr val="E1E1E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09301" y="1493829"/>
            <a:ext cx="10996924" cy="295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100" u="sng" dirty="0"/>
              <a:t>Даны</a:t>
            </a:r>
            <a:r>
              <a:rPr lang="ru-RU" sz="3100" dirty="0"/>
              <a:t> </a:t>
            </a:r>
            <a:r>
              <a:rPr lang="en-US" sz="3100" i="1" dirty="0"/>
              <a:t>M </a:t>
            </a:r>
            <a:r>
              <a:rPr lang="ru-RU" sz="3100" dirty="0"/>
              <a:t>предметов, каждый из которых имеет свой вес </a:t>
            </a:r>
            <a:r>
              <a:rPr lang="en-US" sz="3100" i="1" dirty="0"/>
              <a:t>w</a:t>
            </a:r>
            <a:r>
              <a:rPr lang="en-US" sz="3100" dirty="0"/>
              <a:t> </a:t>
            </a:r>
            <a:r>
              <a:rPr lang="ru-RU" sz="3100" dirty="0"/>
              <a:t>и ценность </a:t>
            </a:r>
            <a:r>
              <a:rPr lang="en-US" sz="3100" i="1" dirty="0"/>
              <a:t>p</a:t>
            </a:r>
            <a:r>
              <a:rPr lang="ru-RU" sz="3100" dirty="0"/>
              <a:t>, и ранец </a:t>
            </a:r>
            <a:r>
              <a:rPr lang="ru-RU" sz="3100" dirty="0" smtClean="0"/>
              <a:t>с </a:t>
            </a:r>
            <a:r>
              <a:rPr lang="ru-RU" sz="3100" dirty="0"/>
              <a:t>ограниченной </a:t>
            </a:r>
            <a:r>
              <a:rPr lang="ru-RU" sz="3100" dirty="0" smtClean="0"/>
              <a:t>вместимостью </a:t>
            </a:r>
            <a:r>
              <a:rPr lang="en-US" sz="3100" i="1" dirty="0" smtClean="0"/>
              <a:t>W</a:t>
            </a:r>
            <a:r>
              <a:rPr lang="ru-RU" sz="3100" dirty="0" smtClean="0"/>
              <a:t>.</a:t>
            </a:r>
          </a:p>
          <a:p>
            <a:endParaRPr lang="ru-RU" sz="3100" dirty="0"/>
          </a:p>
          <a:p>
            <a:r>
              <a:rPr lang="ru-RU" sz="3100" u="sng" dirty="0" smtClean="0"/>
              <a:t>Цель</a:t>
            </a:r>
            <a:r>
              <a:rPr lang="ru-RU" sz="3100" dirty="0"/>
              <a:t> </a:t>
            </a:r>
            <a:r>
              <a:rPr lang="ru-RU" sz="3100" dirty="0" smtClean="0"/>
              <a:t>- загрузить </a:t>
            </a:r>
            <a:r>
              <a:rPr lang="ru-RU" sz="3100" dirty="0"/>
              <a:t>в ранец предметы максимальной суммарной ценности </a:t>
            </a:r>
            <a:r>
              <a:rPr lang="en-US" sz="3100" i="1" dirty="0"/>
              <a:t>P</a:t>
            </a:r>
            <a:r>
              <a:rPr lang="ru-RU" sz="3100" dirty="0"/>
              <a:t>, суммарный вес которых не должен превышать </a:t>
            </a:r>
            <a:r>
              <a:rPr lang="en-US" sz="3100" i="1" dirty="0"/>
              <a:t>W</a:t>
            </a:r>
            <a:r>
              <a:rPr lang="ru-RU" sz="3100" dirty="0" smtClean="0"/>
              <a:t>.</a:t>
            </a:r>
            <a:endParaRPr lang="ru-RU" sz="31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726994" y="657321"/>
            <a:ext cx="52500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задания</a:t>
            </a:r>
            <a:endParaRPr sz="2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9919625" y="630859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2</a:t>
            </a:fld>
            <a:endParaRPr sz="2000">
              <a:solidFill>
                <a:schemeClr val="dk1"/>
              </a:solidFill>
            </a:endParaRPr>
          </a:p>
        </p:txBody>
      </p:sp>
      <p:sp>
        <p:nvSpPr>
          <p:cNvPr id="2" name="AutoShape 2" descr="https://lh3.googleusercontent.com/gg-dl/ABS2GSm1O8KjwR8AuyNB6H94gQoGzApLCmykxT-Fmb5Jf-Jz6bLoDOcHkR9n3izQgyqCpMh0BhG_B-v6TSIwropQcliC_fwga6QLZtj1U1en6lVgddAtgaUgn8Na6aq_cY9ePTayQmhLt12iFgMZytxi5tHF2EQl8_JWf5o0XB5HeopTKE1_DQ=s1024-rj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https://lh3.googleusercontent.com/gg-dl/ABS2GSm1O8KjwR8AuyNB6H94gQoGzApLCmykxT-Fmb5Jf-Jz6bLoDOcHkR9n3izQgyqCpMh0BhG_B-v6TSIwropQcliC_fwga6QLZtj1U1en6lVgddAtgaUgn8Na6aq_cY9ePTayQmhLt12iFgMZytxi5tHF2EQl8_JWf5o0XB5HeopTKE1_DQ=s1024-rj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674775"/>
              </p:ext>
            </p:extLst>
          </p:nvPr>
        </p:nvGraphicFramePr>
        <p:xfrm>
          <a:off x="918210" y="4519454"/>
          <a:ext cx="9587864" cy="1433670"/>
        </p:xfrm>
        <a:graphic>
          <a:graphicData uri="http://schemas.openxmlformats.org/drawingml/2006/table">
            <a:tbl>
              <a:tblPr firstRow="1" firstCol="1" bandRow="1">
                <a:tableStyleId>{2811F13A-6606-400A-BFC5-04F3C6273139}</a:tableStyleId>
              </a:tblPr>
              <a:tblGrid>
                <a:gridCol w="1198483"/>
                <a:gridCol w="1198483"/>
                <a:gridCol w="1198483"/>
                <a:gridCol w="1198483"/>
                <a:gridCol w="1198483"/>
                <a:gridCol w="1198483"/>
                <a:gridCol w="1198483"/>
                <a:gridCol w="1198483"/>
              </a:tblGrid>
              <a:tr h="4778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6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8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w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778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10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15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6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18</a:t>
                      </a:r>
                      <a:endParaRPr lang="ru-RU" sz="2400" kern="1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</a:t>
                      </a:r>
                      <a:endParaRPr lang="ru-RU" sz="2400" kern="1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290975" y="1451415"/>
            <a:ext cx="558595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ru-RU" sz="2600" b="1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Метод имитации отжига </a:t>
            </a: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вдохновлен </a:t>
            </a:r>
            <a:r>
              <a:rPr lang="ru-RU" sz="2600" dirty="0"/>
              <a:t>процессом отжига в металлургии и физике твердого </a:t>
            </a:r>
            <a:r>
              <a:rPr lang="ru-RU" sz="2600" dirty="0" smtClean="0"/>
              <a:t>тела.</a:t>
            </a:r>
            <a:r>
              <a:rPr lang="ru-RU" sz="2600" dirty="0"/>
              <a:t> В контексте оптимизации </a:t>
            </a:r>
            <a:r>
              <a:rPr lang="ru-RU" sz="2600" u="sng" dirty="0"/>
              <a:t>состояние системы</a:t>
            </a:r>
            <a:r>
              <a:rPr lang="ru-RU" sz="2600" dirty="0"/>
              <a:t> является текущим решением задачи, энергия системы – оптимизируемое значение целевой функции, температура – параметр управления процессом поиска и вероятностью принятия неподходящих решений</a:t>
            </a:r>
            <a:r>
              <a:rPr lang="ru-RU" sz="2600" dirty="0" smtClean="0"/>
              <a:t>.</a:t>
            </a:r>
            <a:endParaRPr lang="ru-RU" sz="2600" dirty="0" smtClean="0"/>
          </a:p>
        </p:txBody>
      </p:sp>
      <p:sp>
        <p:nvSpPr>
          <p:cNvPr id="106" name="Google Shape;106;p3"/>
          <p:cNvSpPr/>
          <p:nvPr/>
        </p:nvSpPr>
        <p:spPr>
          <a:xfrm>
            <a:off x="5738811" y="642920"/>
            <a:ext cx="63001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Выбор алгоритма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9919625" y="630859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920" y="1610252"/>
            <a:ext cx="2439343" cy="228796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184" y="3714750"/>
            <a:ext cx="5794816" cy="2776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6181285" y="642784"/>
            <a:ext cx="57957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Модели и диаграммы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-1524000" y="-1846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7750"/>
            <a:ext cx="12192000" cy="69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>
            <a:spLocks noGrp="1"/>
          </p:cNvSpPr>
          <p:nvPr>
            <p:ph type="sldNum" idx="12"/>
          </p:nvPr>
        </p:nvSpPr>
        <p:spPr>
          <a:xfrm>
            <a:off x="9919625" y="630859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/>
              <a:t>4</a:t>
            </a:fld>
            <a:endParaRPr sz="2000"/>
          </a:p>
        </p:txBody>
      </p:sp>
      <p:sp>
        <p:nvSpPr>
          <p:cNvPr id="6" name="Google Shape;106;p3"/>
          <p:cNvSpPr/>
          <p:nvPr/>
        </p:nvSpPr>
        <p:spPr>
          <a:xfrm>
            <a:off x="5738811" y="642920"/>
            <a:ext cx="63001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Описание алгоритма</a:t>
            </a:r>
            <a:endParaRPr dirty="0"/>
          </a:p>
        </p:txBody>
      </p:sp>
      <p:sp>
        <p:nvSpPr>
          <p:cNvPr id="8" name="Google Shape;105;p3"/>
          <p:cNvSpPr/>
          <p:nvPr/>
        </p:nvSpPr>
        <p:spPr>
          <a:xfrm>
            <a:off x="290975" y="1451415"/>
            <a:ext cx="9676936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Установка параметров</a:t>
            </a:r>
            <a:endParaRPr lang="ru-RU" sz="2600" dirty="0">
              <a:ea typeface="Calibri"/>
            </a:endParaRP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Назначение лучшего решения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Достаточно остыло?</a:t>
            </a: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Поиск лучшего решения</a:t>
            </a:r>
          </a:p>
          <a:p>
            <a:pPr lvl="2" algn="just"/>
            <a:r>
              <a:rPr lang="ru-RU" sz="2600" dirty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	</a:t>
            </a: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Удовлетворение ограничениям</a:t>
            </a:r>
          </a:p>
          <a:p>
            <a:pPr lvl="2" algn="just"/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	Определение вероятности принятия нового решения</a:t>
            </a:r>
          </a:p>
          <a:p>
            <a:pPr lvl="0" algn="just"/>
            <a:r>
              <a:rPr lang="ru-RU" sz="2600" dirty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	</a:t>
            </a: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Сравнение энергии нового решения с лучшим</a:t>
            </a:r>
            <a:endParaRPr lang="ru-RU" sz="2600" dirty="0">
              <a:solidFill>
                <a:schemeClr val="dk1"/>
              </a:solidFill>
              <a:latin typeface="Arial" pitchFamily="34" charset="0"/>
              <a:ea typeface="Calibri"/>
              <a:cs typeface="Arial" pitchFamily="34" charset="0"/>
              <a:sym typeface="Calibri"/>
            </a:endParaRP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Охлаждение</a:t>
            </a:r>
            <a:endParaRPr lang="ru-RU" sz="2600" dirty="0">
              <a:solidFill>
                <a:schemeClr val="dk1"/>
              </a:solidFill>
              <a:latin typeface="Arial" pitchFamily="34" charset="0"/>
              <a:ea typeface="Calibri"/>
              <a:cs typeface="Arial" pitchFamily="34" charset="0"/>
              <a:sym typeface="Calibri"/>
            </a:endParaRPr>
          </a:p>
          <a:p>
            <a:pPr marL="457200" lvl="0" indent="-457200" algn="just">
              <a:buFont typeface="Arial" pitchFamily="34" charset="0"/>
              <a:buChar char="•"/>
            </a:pPr>
            <a:r>
              <a:rPr lang="ru-RU" sz="2600" dirty="0" smtClean="0">
                <a:solidFill>
                  <a:schemeClr val="dk1"/>
                </a:solidFill>
                <a:latin typeface="Arial" pitchFamily="34" charset="0"/>
                <a:ea typeface="Calibri"/>
                <a:cs typeface="Arial" pitchFamily="34" charset="0"/>
                <a:sym typeface="Calibri"/>
              </a:rPr>
              <a:t>Вывод лучшего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28377" y="1451415"/>
            <a:ext cx="1168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l-GR" dirty="0"/>
              <a:t>α,</a:t>
            </a:r>
            <a:r>
              <a:rPr lang="en-US" dirty="0" err="1"/>
              <a:t>L,T</a:t>
            </a:r>
            <a:r>
              <a:rPr lang="en-US" baseline="-25000" dirty="0" err="1"/>
              <a:t>min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142486" y="1718905"/>
            <a:ext cx="11400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best</a:t>
            </a:r>
            <a:r>
              <a:rPr lang="en-US" dirty="0"/>
              <a:t> </a:t>
            </a:r>
            <a:r>
              <a:rPr lang="en-US" dirty="0"/>
              <a:t>←</a:t>
            </a:r>
            <a:r>
              <a:rPr lang="en-US" dirty="0" smtClean="0"/>
              <a:t>x</a:t>
            </a:r>
            <a:endParaRPr lang="ru-RU" dirty="0" smtClean="0"/>
          </a:p>
          <a:p>
            <a:r>
              <a:rPr lang="en-US" dirty="0" err="1" smtClean="0"/>
              <a:t>E</a:t>
            </a:r>
            <a:r>
              <a:rPr lang="en-US" baseline="-25000" dirty="0" err="1" smtClean="0"/>
              <a:t>best</a:t>
            </a:r>
            <a:r>
              <a:rPr lang="en-US" dirty="0"/>
              <a:t> </a:t>
            </a:r>
            <a:r>
              <a:rPr lang="en-US" dirty="0"/>
              <a:t>←</a:t>
            </a:r>
            <a:r>
              <a:rPr lang="en-US" dirty="0"/>
              <a:t> E(x)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312404" y="2242125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 &gt; </a:t>
            </a:r>
            <a:r>
              <a:rPr lang="en-US" dirty="0" err="1"/>
              <a:t>T</a:t>
            </a:r>
            <a:r>
              <a:rPr lang="en-US" baseline="-25000" dirty="0" err="1"/>
              <a:t>min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312404" y="2643486"/>
            <a:ext cx="8499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x' = N(x)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026268" y="3087549"/>
            <a:ext cx="14221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sum(</a:t>
            </a:r>
            <a:r>
              <a:rPr lang="en-US" dirty="0" err="1"/>
              <a:t>x'w</a:t>
            </a:r>
            <a:r>
              <a:rPr lang="en-US" dirty="0"/>
              <a:t>) &lt;=W?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681204" y="3462301"/>
            <a:ext cx="22958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dirty="0"/>
              <a:t>delta E&gt;=0 ИЛИ </a:t>
            </a:r>
            <a:endParaRPr lang="ru-RU" dirty="0" smtClean="0"/>
          </a:p>
          <a:p>
            <a:pPr algn="ctr"/>
            <a:r>
              <a:rPr lang="sv-SE" dirty="0" smtClean="0"/>
              <a:t>(</a:t>
            </a:r>
            <a:r>
              <a:rPr lang="sv-SE" dirty="0"/>
              <a:t>rand(0,1) &lt; exp(delta E/T)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0205002" y="3963994"/>
            <a:ext cx="10647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E(x) &gt; </a:t>
            </a:r>
            <a:r>
              <a:rPr lang="en-US" dirty="0" err="1"/>
              <a:t>E</a:t>
            </a:r>
            <a:r>
              <a:rPr lang="en-US" baseline="-25000" dirty="0" err="1"/>
              <a:t>best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0297175" y="4294287"/>
            <a:ext cx="8803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 = </a:t>
            </a:r>
            <a:r>
              <a:rPr lang="el-GR" dirty="0"/>
              <a:t>α * </a:t>
            </a:r>
            <a:r>
              <a:rPr lang="en-US" dirty="0"/>
              <a:t>T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0461482" y="4744938"/>
            <a:ext cx="5020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best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4087925" y="691360"/>
            <a:ext cx="78891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-1524000" y="-1846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idx="12"/>
          </p:nvPr>
        </p:nvSpPr>
        <p:spPr>
          <a:xfrm>
            <a:off x="9919625" y="630859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/>
              <a:t>5</a:t>
            </a:fld>
            <a:endParaRPr sz="20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1" t="66453" r="12678"/>
          <a:stretch/>
        </p:blipFill>
        <p:spPr bwMode="auto">
          <a:xfrm>
            <a:off x="666749" y="3962399"/>
            <a:ext cx="8605672" cy="213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94" t="11944" r="20625" b="70000"/>
          <a:stretch/>
        </p:blipFill>
        <p:spPr bwMode="auto">
          <a:xfrm>
            <a:off x="810371" y="1743074"/>
            <a:ext cx="324040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179</Words>
  <Application>Microsoft Office PowerPoint</Application>
  <PresentationFormat>Произвольный</PresentationFormat>
  <Paragraphs>63</Paragraphs>
  <Slides>5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maks.fukanaga@mail.ru</dc:creator>
  <cp:lastModifiedBy>User</cp:lastModifiedBy>
  <cp:revision>20</cp:revision>
  <dcterms:created xsi:type="dcterms:W3CDTF">2024-06-17T13:04:12Z</dcterms:created>
  <dcterms:modified xsi:type="dcterms:W3CDTF">2025-12-04T06:12:32Z</dcterms:modified>
</cp:coreProperties>
</file>